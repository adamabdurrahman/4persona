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C9A96E"/>
                </a:solidFill>
                <a:latin typeface="Calibri"/>
              </a:defRPr>
            </a:pPr>
            <a:r>
              <a:t>4Persona Vundiego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  <a:latin typeface="Calibri"/>
              </a:defRPr>
            </a:pPr>
            <a:r>
              <a:t>Personality Test Platform — Quiet Luxury Perfume Brand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4114800"/>
            <a:ext cx="2743200" cy="381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9890"/>
                </a:solidFill>
                <a:latin typeface="Calibri"/>
              </a:defRPr>
            </a:pPr>
            <a:r>
              <a:t>Lead Generation &amp; Sales Conversion Tool for Vun Diego (Maison de Parfum)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A96E"/>
                </a:solidFill>
                <a:latin typeface="Calibri"/>
              </a:defRPr>
            </a:pPr>
            <a:r>
              <a:t>React 19 · NestJS 11 · PostgreSQL · Supabase · Prisma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828800" cy="381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1C1B19"/>
                </a:solidFill>
                <a:latin typeface="Calibri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6560"/>
                </a:solidFill>
                <a:latin typeface="Calibri"/>
              </a:defRPr>
            </a:pPr>
            <a:r>
              <a:t>A personality test web app for the perfume brand Vun Diego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C1B19"/>
                </a:solidFill>
                <a:latin typeface="Calibri"/>
              </a:defRPr>
            </a:pPr>
            <a:r>
              <a:t>Users answer 25 questions → classified into 1 of 4 elements (Fire, Water, Wind, Earth)</a:t>
            </a:r>
          </a:p>
          <a:p>
            <a:pPr>
              <a:spcAft>
                <a:spcPts val="800"/>
              </a:spcAft>
              <a:defRPr sz="1600">
                <a:solidFill>
                  <a:srgbClr val="1C1B19"/>
                </a:solidFill>
                <a:latin typeface="Calibri"/>
              </a:defRPr>
            </a:pPr>
            <a:r>
              <a:t>Each element maps to a Vundiego perfume: Choleric, Melancholic, Sanguine, Phlegmatic</a:t>
            </a:r>
          </a:p>
          <a:p>
            <a:pPr>
              <a:spcAft>
                <a:spcPts val="800"/>
              </a:spcAft>
              <a:defRPr sz="1600">
                <a:solidFill>
                  <a:srgbClr val="1C1B19"/>
                </a:solidFill>
                <a:latin typeface="Calibri"/>
              </a:defRPr>
            </a:pPr>
            <a:r>
              <a:t>Core Purpose: Collect customer emails (leads) &amp; drive perfume purchases</a:t>
            </a:r>
          </a:p>
          <a:p>
            <a:pPr>
              <a:spcAft>
                <a:spcPts val="800"/>
              </a:spcAft>
              <a:defRPr sz="1600">
                <a:solidFill>
                  <a:srgbClr val="1C1B19"/>
                </a:solidFill>
                <a:latin typeface="Calibri"/>
              </a:defRPr>
            </a:pPr>
            <a:r>
              <a:t>Target Audience: Indonesian-speaking users (Bahasa Indonesia UI)</a:t>
            </a:r>
          </a:p>
          <a:p>
            <a:pPr>
              <a:spcAft>
                <a:spcPts val="800"/>
              </a:spcAft>
              <a:defRPr sz="1600">
                <a:solidFill>
                  <a:srgbClr val="1C1B19"/>
                </a:solidFill>
                <a:latin typeface="Calibri"/>
              </a:defRPr>
            </a:pPr>
            <a:r>
              <a:t>Built as a lead generation &amp; sales conversion tool</a:t>
            </a:r>
          </a:p>
          <a:p>
            <a:pPr>
              <a:spcAft>
                <a:spcPts val="800"/>
              </a:spcAft>
              <a:defRPr sz="1600">
                <a:solidFill>
                  <a:srgbClr val="1C1B19"/>
                </a:solidFill>
                <a:latin typeface="Calibri"/>
              </a:defRPr>
            </a:pPr>
            <a:r>
              <a:t>User journey: Home → Auth → Test → Teaser (reveal) → Report (with shop links)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828800" cy="381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9A96E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2011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9890"/>
                </a:solidFill>
                <a:latin typeface="Calibri"/>
              </a:defRPr>
            </a:pPr>
            <a:r>
              <a:t>React 19 + Vite 8, Framer Motion 12, Recharts 3, Three.js / react-three-fiber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9A96E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5603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9890"/>
                </a:solidFill>
                <a:latin typeface="Calibri"/>
              </a:defRPr>
            </a:pPr>
            <a:r>
              <a:t>NestJS 11 (TypeScript), modular architecture, JWT + Passport auth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9A96E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310896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9890"/>
                </a:solidFill>
                <a:latin typeface="Calibri"/>
              </a:defRPr>
            </a:pPr>
            <a:r>
              <a:t>PostgreSQL hosted on Supabase, Prisma 6 ORM with migrations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9A96E"/>
                </a:solidFill>
                <a:latin typeface="Calibri"/>
              </a:defRPr>
            </a:pPr>
            <a:r>
              <a:t>Auth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6576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9890"/>
                </a:solidFill>
                <a:latin typeface="Calibri"/>
              </a:defRPr>
            </a:pPr>
            <a:r>
              <a:t>JWT (email/password) + Google OAuth 2.0, bcrypt hashing (12 rounds)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06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9A96E"/>
                </a:solidFill>
                <a:latin typeface="Calibri"/>
              </a:defRPr>
            </a:pPr>
            <a:r>
              <a:t>Email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42062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9890"/>
                </a:solidFill>
                <a:latin typeface="Calibri"/>
              </a:defRPr>
            </a:pPr>
            <a:r>
              <a:t>Brevo (Sendinblue) REST API v3 — 300 emails/day free tier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7548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9A96E"/>
                </a:solidFill>
                <a:latin typeface="Calibri"/>
              </a:defRPr>
            </a:pPr>
            <a:r>
              <a:t>Storage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4754879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9890"/>
                </a:solidFill>
                <a:latin typeface="Calibri"/>
              </a:defRPr>
            </a:pPr>
            <a:r>
              <a:t>Supabase Storage for admin-uploaded report backgrounds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30351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9A96E"/>
                </a:solidFill>
                <a:latin typeface="Calibri"/>
              </a:defRPr>
            </a:pPr>
            <a:r>
              <a:t>Charts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5303519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9890"/>
                </a:solidFill>
                <a:latin typeface="Calibri"/>
              </a:defRPr>
            </a:pPr>
            <a:r>
              <a:t>Recharts radar chart for 4-element persona scores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85215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9A96E"/>
                </a:solidFill>
                <a:latin typeface="Calibri"/>
              </a:defRPr>
            </a:pPr>
            <a:r>
              <a:t>Hosting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5852159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9890"/>
                </a:solidFill>
                <a:latin typeface="Calibri"/>
              </a:defRPr>
            </a:pPr>
            <a:r>
              <a:t>Vercel (frontend) · Railway / Render (backend) — planned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828800" cy="381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1C1B19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C1B19"/>
                </a:solidFill>
                <a:latin typeface="Calibri"/>
              </a:defRPr>
            </a:pPr>
            <a:r>
              <a:t>Frontend (React SPA) ←→ Backend API (NestJS) ←→ PostgreSQL (Supabase)</a:t>
            </a:r>
          </a:p>
          <a:p>
            <a:pPr>
              <a:spcAft>
                <a:spcPts val="800"/>
              </a:spcAft>
              <a:defRPr sz="1600">
                <a:solidFill>
                  <a:srgbClr val="1C1B19"/>
                </a:solidFill>
                <a:latin typeface="Calibri"/>
              </a:defRPr>
            </a:pPr>
            <a:r>
              <a:t>Axios HTTP client with JWT interceptor for authenticated requests</a:t>
            </a:r>
          </a:p>
          <a:p>
            <a:pPr>
              <a:spcAft>
                <a:spcPts val="800"/>
              </a:spcAft>
              <a:defRPr sz="1600">
                <a:solidFill>
                  <a:srgbClr val="1C1B19"/>
                </a:solidFill>
                <a:latin typeface="Calibri"/>
              </a:defRPr>
            </a:pPr>
            <a:r>
              <a:t>Public report pages via token-based access (UUID, 30-day expiry)</a:t>
            </a:r>
          </a:p>
          <a:p>
            <a:pPr>
              <a:spcAft>
                <a:spcPts val="800"/>
              </a:spcAft>
              <a:defRPr sz="1600">
                <a:solidFill>
                  <a:srgbClr val="1C1B19"/>
                </a:solidFill>
                <a:latin typeface="Calibri"/>
              </a:defRPr>
            </a:pPr>
            <a:r>
              <a:t>Visitor counting with sessionStorage de-duplication (1x per 24h)</a:t>
            </a:r>
          </a:p>
          <a:p>
            <a:pPr>
              <a:spcAft>
                <a:spcPts val="800"/>
              </a:spcAft>
              <a:defRPr sz="1600">
                <a:solidFill>
                  <a:srgbClr val="1C1B19"/>
                </a:solidFill>
                <a:latin typeface="Calibri"/>
              </a:defRPr>
            </a:pPr>
            <a:r>
              <a:t>Homepage stats cached in-memory (5-min TTL) to reduce DB load</a:t>
            </a:r>
          </a:p>
          <a:p>
            <a:pPr>
              <a:spcAft>
                <a:spcPts val="800"/>
              </a:spcAft>
              <a:defRPr sz="1600">
                <a:solidFill>
                  <a:srgbClr val="1C1B19"/>
                </a:solidFill>
                <a:latin typeface="Calibri"/>
              </a:defRPr>
            </a:pPr>
            <a:r>
              <a:t>Email sent asynchronously via Brevo after test submission</a:t>
            </a:r>
          </a:p>
          <a:p>
            <a:pPr>
              <a:spcAft>
                <a:spcPts val="800"/>
              </a:spcAft>
              <a:defRPr sz="1600">
                <a:solidFill>
                  <a:srgbClr val="1C1B19"/>
                </a:solidFill>
                <a:latin typeface="Calibri"/>
              </a:defRPr>
            </a:pPr>
            <a:r>
              <a:t>Social share: html2canvas generates persona cards client-side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389120"/>
            <a:ext cx="10515600" cy="2011680"/>
          </a:xfrm>
          <a:prstGeom prst="rect">
            <a:avLst/>
          </a:prstGeom>
          <a:solidFill>
            <a:srgbClr val="EFE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480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C1B19"/>
                </a:solidFill>
                <a:latin typeface="Calibri"/>
              </a:defRPr>
            </a:pPr>
            <a:r>
              <a:t>User Browser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6560"/>
                </a:solidFill>
                <a:latin typeface="Calibri"/>
              </a:defRPr>
            </a:pPr>
            <a:r>
              <a:t>React · Vite · Framer Motion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4480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C1B19"/>
                </a:solidFill>
                <a:latin typeface="Calibri"/>
              </a:defRPr>
            </a:pPr>
            <a:r>
              <a:t>NestJS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4754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6560"/>
                </a:solidFill>
                <a:latin typeface="Calibri"/>
              </a:defRPr>
            </a:pPr>
            <a:r>
              <a:t>Auth · Tests · Questions ·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480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C1B19"/>
                </a:solidFill>
                <a:latin typeface="Calibri"/>
              </a:defRPr>
            </a:pPr>
            <a:r>
              <a:t>PostgreSQL / Supabase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4754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6560"/>
                </a:solidFill>
                <a:latin typeface="Calibri"/>
              </a:defRPr>
            </a:pPr>
            <a:r>
              <a:t>Prisma ORM · 6 Models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303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560"/>
                </a:solidFill>
                <a:latin typeface="Calibri"/>
              </a:defRPr>
            </a:pPr>
            <a:r>
              <a:t>API calls via Axios (JWT)    →    Report via UUID Token    →    Brevo Email    →    Supabase Storage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828800" cy="381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The 4 Elements &amp; Personas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2468880" cy="4389120"/>
          </a:xfrm>
          <a:prstGeom prst="rect">
            <a:avLst/>
          </a:prstGeom>
          <a:solidFill>
            <a:srgbClr val="1C1B19"/>
          </a:solidFill>
          <a:ln w="19050">
            <a:solidFill>
              <a:srgbClr val="B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🔥 API (Fire)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83232"/>
                </a:solidFill>
                <a:latin typeface="Calibri"/>
              </a:defRPr>
            </a:pPr>
            <a:r>
              <a:t>Parfum: Choleric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A96E"/>
                </a:solidFill>
                <a:latin typeface="Calibri"/>
              </a:defRPr>
            </a:pPr>
            <a:r>
              <a:t>"Berani, Intens &amp; Bersemangat"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2336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9890"/>
                </a:solidFill>
                <a:latin typeface="Calibri"/>
              </a:defRPr>
            </a:pPr>
            <a:r>
              <a:t>Pemimpin alami, energik, tegas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2011680"/>
            <a:ext cx="2468880" cy="4389120"/>
          </a:xfrm>
          <a:prstGeom prst="rect">
            <a:avLst/>
          </a:prstGeom>
          <a:solidFill>
            <a:srgbClr val="1C1B19"/>
          </a:solidFill>
          <a:ln w="19050">
            <a:solidFill>
              <a:srgbClr val="3B7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0" y="22860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💧 AIR (Water)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2834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77BC"/>
                </a:solidFill>
                <a:latin typeface="Calibri"/>
              </a:defRPr>
            </a:pPr>
            <a:r>
              <a:t>Parfum: Melancholic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33832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A96E"/>
                </a:solidFill>
                <a:latin typeface="Calibri"/>
              </a:defRPr>
            </a:pPr>
            <a:r>
              <a:t>"Dalam, Puitis &amp; Introspektif"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402336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9890"/>
                </a:solidFill>
                <a:latin typeface="Calibri"/>
              </a:defRPr>
            </a:pPr>
            <a:r>
              <a:t>Pemikir mendalam, menghargai detail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011680"/>
            <a:ext cx="2468880" cy="4389120"/>
          </a:xfrm>
          <a:prstGeom prst="rect">
            <a:avLst/>
          </a:prstGeom>
          <a:solidFill>
            <a:srgbClr val="1C1B19"/>
          </a:solidFill>
          <a:ln w="19050">
            <a:solidFill>
              <a:srgbClr val="C59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2860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🍃 ANGIN (Wind)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834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5963A"/>
                </a:solidFill>
                <a:latin typeface="Calibri"/>
              </a:defRPr>
            </a:pPr>
            <a:r>
              <a:t>Parfum: Sanguine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3832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A96E"/>
                </a:solidFill>
                <a:latin typeface="Calibri"/>
              </a:defRPr>
            </a:pPr>
            <a:r>
              <a:t>"Cerah, Segar &amp; Menginspirasi"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2336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9890"/>
                </a:solidFill>
                <a:latin typeface="Calibri"/>
              </a:defRPr>
            </a:pPr>
            <a:r>
              <a:t>Jiwa sosial, membawa keceriaan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2011680"/>
            <a:ext cx="2468880" cy="4389120"/>
          </a:xfrm>
          <a:prstGeom prst="rect">
            <a:avLst/>
          </a:prstGeom>
          <a:solidFill>
            <a:srgbClr val="1C1B19"/>
          </a:solidFill>
          <a:ln w="19050">
            <a:solidFill>
              <a:srgbClr val="3A5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22860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🌿 TANAH (Earth)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2834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A5C3A"/>
                </a:solidFill>
                <a:latin typeface="Calibri"/>
              </a:defRPr>
            </a:pPr>
            <a:r>
              <a:t>Parfum: Phlegmatic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33832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A96E"/>
                </a:solidFill>
                <a:latin typeface="Calibri"/>
              </a:defRPr>
            </a:pPr>
            <a:r>
              <a:t>"Tenang, Stabil &amp; Harmonis"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402336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9890"/>
                </a:solidFill>
                <a:latin typeface="Calibri"/>
              </a:defRPr>
            </a:pPr>
            <a:r>
              <a:t>Sumber ketenangan, bijaksana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828800" cy="381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1C1B19"/>
                </a:solidFill>
                <a:latin typeface="Calibri"/>
              </a:defRPr>
            </a:pPr>
            <a:r>
              <a:t>User Journey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548640" cy="54864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C1B19"/>
                </a:solidFill>
                <a:latin typeface="Calibri"/>
              </a:defRPr>
            </a:pPr>
            <a:r>
              <a:t>Homepage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148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560"/>
                </a:solidFill>
                <a:latin typeface="Calibri"/>
              </a:defRPr>
            </a:pPr>
            <a:r>
              <a:t>Hero canvas, 4 stats cards, CTA, element teasers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743200"/>
            <a:ext cx="548640" cy="54864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743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C1B19"/>
                </a:solidFill>
                <a:latin typeface="Calibri"/>
              </a:defRPr>
            </a:pPr>
            <a:r>
              <a:t>Auth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063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560"/>
                </a:solidFill>
                <a:latin typeface="Calibri"/>
              </a:defRPr>
            </a:pPr>
            <a:r>
              <a:t>Login / Register via email or Google OAuth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657600"/>
            <a:ext cx="548640" cy="54864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703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657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C1B19"/>
                </a:solidFill>
                <a:latin typeface="Calibri"/>
              </a:defRPr>
            </a:pPr>
            <a:r>
              <a:t>Test (25 Questions)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97763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560"/>
                </a:solidFill>
                <a:latin typeface="Calibri"/>
              </a:defRPr>
            </a:pPr>
            <a:r>
              <a:t>6-6-6-6 distribution + 1 closing survey; animated card stack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572000"/>
            <a:ext cx="548640" cy="54864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617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C1B19"/>
                </a:solidFill>
                <a:latin typeface="Calibri"/>
              </a:defRPr>
            </a:pPr>
            <a:r>
              <a:t>Teaser / Reveal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892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560"/>
                </a:solidFill>
                <a:latin typeface="Calibri"/>
              </a:defRPr>
            </a:pPr>
            <a:r>
              <a:t>Countdown animation → persona reveal with 3D wireframe background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486400"/>
            <a:ext cx="548640" cy="54864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532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5486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C1B19"/>
                </a:solidFill>
                <a:latin typeface="Calibri"/>
              </a:defRPr>
            </a:pPr>
            <a:r>
              <a:t>Report Page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5806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560"/>
                </a:solidFill>
                <a:latin typeface="Calibri"/>
              </a:defRPr>
            </a:pPr>
            <a:r>
              <a:t>Radar chart, persona cards, Shopee/TikTok links, feedback, share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25603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9A96E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34747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9A96E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3891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9A96E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303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9A96E"/>
                </a:solidFill>
                <a:latin typeface="Calibri"/>
              </a:defRPr>
            </a:pPr>
            <a:r>
              <a:t>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828800" cy="381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Frontend Pages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96E"/>
                </a:solidFill>
                <a:latin typeface="Calibri"/>
              </a:defRPr>
            </a:pPr>
            <a:r>
              <a:t>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20116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HomePage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201168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9890"/>
                </a:solidFill>
                <a:latin typeface="Calibri"/>
              </a:defRPr>
            </a:pPr>
            <a:r>
              <a:t>Canvas hero, 4 stat counters, CTA button, element teaser cards, donation badge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96E"/>
                </a:solidFill>
                <a:latin typeface="Calibri"/>
              </a:defRPr>
            </a:pPr>
            <a:r>
              <a:t>/auth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6060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AuthPage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60604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9890"/>
                </a:solidFill>
                <a:latin typeface="Calibri"/>
              </a:defRPr>
            </a:pPr>
            <a:r>
              <a:t>Login/Register tabs, Google OAuth button, form validation via react-hook-form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96E"/>
                </a:solidFill>
                <a:latin typeface="Calibri"/>
              </a:defRPr>
            </a:pPr>
            <a:r>
              <a:t>/test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2004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TestPage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320040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9890"/>
                </a:solidFill>
                <a:latin typeface="Calibri"/>
              </a:defRPr>
            </a:pPr>
            <a:r>
              <a:t>Protected route, animated card stack, progress bar, 25 randomized 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94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96E"/>
                </a:solidFill>
                <a:latin typeface="Calibri"/>
              </a:defRPr>
            </a:pPr>
            <a:r>
              <a:t>/teaser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7947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TeaserPage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79476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9890"/>
                </a:solidFill>
                <a:latin typeface="Calibri"/>
              </a:defRPr>
            </a:pPr>
            <a:r>
              <a:t>Countdown animation, wireframe 3D background, persona reveal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89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96E"/>
                </a:solidFill>
                <a:latin typeface="Calibri"/>
              </a:defRPr>
            </a:pPr>
            <a:r>
              <a:t>/report/:token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3891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ReportPage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43891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9890"/>
                </a:solidFill>
                <a:latin typeface="Calibri"/>
              </a:defRPr>
            </a:pPr>
            <a:r>
              <a:t>Radar chart, persona primer/sekunder, shop links, share (html2canvas), feedback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983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96E"/>
                </a:solidFill>
                <a:latin typeface="Calibri"/>
              </a:defRPr>
            </a:pPr>
            <a:r>
              <a:t>/profile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9834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ProfilePage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498348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9890"/>
                </a:solidFill>
                <a:latin typeface="Calibri"/>
              </a:defRPr>
            </a:pPr>
            <a:r>
              <a:t>User info, last persona, test history with links to previous reports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577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96E"/>
                </a:solidFill>
                <a:latin typeface="Calibri"/>
              </a:defRPr>
            </a:pPr>
            <a:r>
              <a:t>/admin/*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55778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AdminPanel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557784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9890"/>
                </a:solidFill>
                <a:latin typeface="Calibri"/>
              </a:defRPr>
            </a:pPr>
            <a:r>
              <a:t>Dashboard stats, CRUD questions, paginated results, report templates editor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828800" cy="381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1C1B19"/>
                </a:solidFill>
                <a:latin typeface="Calibri"/>
              </a:defRPr>
            </a:pPr>
            <a:r>
              <a:t>Backend API Endpoints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8884D"/>
                </a:solidFill>
                <a:latin typeface="Calibri"/>
              </a:defRPr>
            </a:pPr>
            <a:r>
              <a:t>Public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20116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B19"/>
                </a:solidFill>
                <a:latin typeface="Calibri"/>
              </a:defRPr>
            </a:pPr>
            <a:r>
              <a:t>GET /api/metrics/public, POST /api/metrics/ping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14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8884D"/>
                </a:solidFill>
                <a:latin typeface="Calibri"/>
              </a:defRPr>
            </a:pPr>
            <a:r>
              <a:t>Auth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5146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B19"/>
                </a:solidFill>
                <a:latin typeface="Calibri"/>
              </a:defRPr>
            </a:pPr>
            <a:r>
              <a:t>POST /api/auth/register, POST /api/auth/login, GET /api/auth/me, GET /api/auth/google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8884D"/>
                </a:solidFill>
                <a:latin typeface="Calibri"/>
              </a:defRPr>
            </a:pPr>
            <a:r>
              <a:t>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3017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B19"/>
                </a:solidFill>
                <a:latin typeface="Calibri"/>
              </a:defRPr>
            </a:pPr>
            <a:r>
              <a:t>GET /api/questions/session (25 random), CRUD + toggle (admin)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204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8884D"/>
                </a:solidFill>
                <a:latin typeface="Calibri"/>
              </a:defRPr>
            </a:pPr>
            <a:r>
              <a:t>Tests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520439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B19"/>
                </a:solidFill>
                <a:latin typeface="Calibri"/>
              </a:defRPr>
            </a:pPr>
            <a:r>
              <a:t>POST /api/tests/submit, GET /api/tests/report/:token, GET /api/tests/history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02335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8884D"/>
                </a:solidFill>
                <a:latin typeface="Calibri"/>
              </a:defRPr>
            </a:pPr>
            <a:r>
              <a:t>Admin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4023359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B19"/>
                </a:solidFill>
                <a:latin typeface="Calibri"/>
              </a:defRPr>
            </a:pPr>
            <a:r>
              <a:t>GET /api/admin/stats, PATCH /api/admin/sales, GET/PUT templates, GET results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00599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560"/>
                </a:solidFill>
                <a:latin typeface="Calibri"/>
              </a:defRPr>
            </a:pPr>
            <a:r>
              <a:t>Backend modules: auth, users, questions, tests, metrics, email, admin, storage, reports — NestJS modular architecture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828800" cy="381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Scoring &amp; Question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8E3DA"/>
                </a:solidFill>
                <a:latin typeface="Calibri"/>
              </a:defRPr>
            </a:pPr>
            <a:r>
              <a:t>25 questions per session: 6 × API + 6 × AIR + 6 × ANGIN + 6 × TANAH + 1 closing survey</a:t>
            </a:r>
          </a:p>
          <a:p>
            <a:pPr>
              <a:spcAft>
                <a:spcPts val="800"/>
              </a:spcAft>
              <a:defRPr sz="1600">
                <a:solidFill>
                  <a:srgbClr val="E8E3DA"/>
                </a:solidFill>
                <a:latin typeface="Calibri"/>
              </a:defRPr>
            </a:pPr>
            <a:r>
              <a:t>Each option awards points to one of the 4 elements (targetType)</a:t>
            </a:r>
          </a:p>
          <a:p>
            <a:pPr>
              <a:spcAft>
                <a:spcPts val="800"/>
              </a:spcAft>
              <a:defRPr sz="1600">
                <a:solidFill>
                  <a:srgbClr val="E8E3DA"/>
                </a:solidFill>
                <a:latin typeface="Calibri"/>
              </a:defRPr>
            </a:pPr>
            <a:r>
              <a:t>Highest-scoring element = Persona Primer, second = Persona Sekunder</a:t>
            </a:r>
          </a:p>
          <a:p>
            <a:pPr>
              <a:spcAft>
                <a:spcPts val="800"/>
              </a:spcAft>
              <a:defRPr sz="1600">
                <a:solidFill>
                  <a:srgbClr val="E8E3DA"/>
                </a:solidFill>
                <a:latin typeface="Calibri"/>
              </a:defRPr>
            </a:pPr>
            <a:r>
              <a:t>Tie-breaker: API &gt; AIR &gt; ANGIN &gt; TANAH (priority order)</a:t>
            </a:r>
          </a:p>
          <a:p>
            <a:pPr>
              <a:spcAft>
                <a:spcPts val="800"/>
              </a:spcAft>
              <a:defRPr sz="1600">
                <a:solidFill>
                  <a:srgbClr val="E8E3DA"/>
                </a:solidFill>
                <a:latin typeface="Calibri"/>
              </a:defRPr>
            </a:pPr>
            <a:r>
              <a:t>Each test generates a UUID token (30-day expiry) for public report access</a:t>
            </a:r>
          </a:p>
          <a:p>
            <a:pPr>
              <a:spcAft>
                <a:spcPts val="800"/>
              </a:spcAft>
              <a:defRPr sz="1600">
                <a:solidFill>
                  <a:srgbClr val="E8E3DA"/>
                </a:solidFill>
                <a:latin typeface="Calibri"/>
              </a:defRPr>
            </a:pPr>
            <a:r>
              <a:t>Email sent via Brevo with personalized report link after submission</a:t>
            </a:r>
          </a:p>
          <a:p>
            <a:pPr>
              <a:spcAft>
                <a:spcPts val="800"/>
              </a:spcAft>
              <a:defRPr sz="1600">
                <a:solidFill>
                  <a:srgbClr val="E8E3DA"/>
                </a:solidFill>
                <a:latin typeface="Calibri"/>
              </a:defRPr>
            </a:pPr>
            <a:r>
              <a:t>Users can optionally provide feedback (rating 1-5 + text) on their report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828800" cy="381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1C1B19"/>
                </a:solidFill>
                <a:latin typeface="Calibri"/>
              </a:defRPr>
            </a:pPr>
            <a:r>
              <a:t>Database Schema (6 Models)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C1B19"/>
                </a:solidFill>
                <a:latin typeface="Calibri"/>
              </a:defRPr>
            </a:pPr>
            <a:r>
              <a:t>User — id, email, name, googleId, password (bcrypt), isAdmin, timestamps</a:t>
            </a:r>
          </a:p>
          <a:p>
            <a:pPr>
              <a:spcAft>
                <a:spcPts val="800"/>
              </a:spcAft>
              <a:defRPr sz="1500">
                <a:solidFill>
                  <a:srgbClr val="1C1B19"/>
                </a:solidFill>
                <a:latin typeface="Calibri"/>
              </a:defRPr>
            </a:pPr>
            <a:r>
              <a:t>Question — id, text, element (API/AIR/ANGIN/TANAH), isActive, createdAt</a:t>
            </a:r>
          </a:p>
          <a:p>
            <a:pPr>
              <a:spcAft>
                <a:spcPts val="800"/>
              </a:spcAft>
              <a:defRPr sz="1500">
                <a:solidFill>
                  <a:srgbClr val="1C1B19"/>
                </a:solidFill>
                <a:latin typeface="Calibri"/>
              </a:defRPr>
            </a:pPr>
            <a:r>
              <a:t>AnswerOption — id, questionId, text, targetType (element), order</a:t>
            </a:r>
          </a:p>
          <a:p>
            <a:pPr>
              <a:spcAft>
                <a:spcPts val="800"/>
              </a:spcAft>
              <a:defRPr sz="1500">
                <a:solidFill>
                  <a:srgbClr val="1C1B19"/>
                </a:solidFill>
                <a:latin typeface="Calibri"/>
              </a:defRPr>
            </a:pPr>
            <a:r>
              <a:t>TestResult — id, userId, scores (4 elements), personaPrimer/Sekunder, reportToken (UUID, 30d), feedback</a:t>
            </a:r>
          </a:p>
          <a:p>
            <a:pPr>
              <a:spcAft>
                <a:spcPts val="800"/>
              </a:spcAft>
              <a:defRPr sz="1500">
                <a:solidFill>
                  <a:srgbClr val="1C1B19"/>
                </a:solidFill>
                <a:latin typeface="Calibri"/>
              </a:defRPr>
            </a:pPr>
            <a:r>
              <a:t>SystemMetric — singleton row (id=1), manualSalesCount, totalVisitors</a:t>
            </a:r>
          </a:p>
          <a:p>
            <a:pPr>
              <a:spcAft>
                <a:spcPts val="800"/>
              </a:spcAft>
              <a:defRPr sz="1500">
                <a:solidFill>
                  <a:srgbClr val="1C1B19"/>
                </a:solidFill>
                <a:latin typeface="Calibri"/>
              </a:defRPr>
            </a:pPr>
            <a:r>
              <a:t>ReportTemplate — id (ElementType), parfumName, descriptions, backgroundImage, shop links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828800" cy="381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Design System — "Quiet Luxury"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8E3DA"/>
                </a:solidFill>
                <a:latin typeface="Calibri"/>
              </a:defRPr>
            </a:pPr>
            <a:r>
              <a:t>Inspiration: vundiego.com — warm neutral palette with gold accents</a:t>
            </a:r>
          </a:p>
          <a:p>
            <a:pPr>
              <a:spcAft>
                <a:spcPts val="800"/>
              </a:spcAft>
              <a:defRPr sz="1600">
                <a:solidFill>
                  <a:srgbClr val="E8E3DA"/>
                </a:solidFill>
                <a:latin typeface="Calibri"/>
              </a:defRPr>
            </a:pPr>
            <a:r>
              <a:t>Background: #f8f6f2 (light) / #111110 (dark)</a:t>
            </a:r>
          </a:p>
          <a:p>
            <a:pPr>
              <a:spcAft>
                <a:spcPts val="800"/>
              </a:spcAft>
              <a:defRPr sz="1600">
                <a:solidFill>
                  <a:srgbClr val="E8E3DA"/>
                </a:solidFill>
                <a:latin typeface="Calibri"/>
              </a:defRPr>
            </a:pPr>
            <a:r>
              <a:t>Primary accent: #c9a96e (Gold) — CTA buttons &amp; highlights</a:t>
            </a:r>
          </a:p>
          <a:p>
            <a:pPr>
              <a:spcAft>
                <a:spcPts val="800"/>
              </a:spcAft>
              <a:defRPr sz="1600">
                <a:solidFill>
                  <a:srgbClr val="E8E3DA"/>
                </a:solidFill>
                <a:latin typeface="Calibri"/>
              </a:defRPr>
            </a:pPr>
            <a:r>
              <a:t>Typography: Playfair Display (headings, serif) + Inter (body, sans-serif)</a:t>
            </a:r>
          </a:p>
          <a:p>
            <a:pPr>
              <a:spcAft>
                <a:spcPts val="800"/>
              </a:spcAft>
              <a:defRPr sz="1600">
                <a:solidFill>
                  <a:srgbClr val="E8E3DA"/>
                </a:solidFill>
                <a:latin typeface="Calibri"/>
              </a:defRPr>
            </a:pPr>
            <a:r>
              <a:t>Pixel art icons for each element (Pixelify Sans font)</a:t>
            </a:r>
          </a:p>
          <a:p>
            <a:pPr>
              <a:spcAft>
                <a:spcPts val="800"/>
              </a:spcAft>
              <a:defRPr sz="1600">
                <a:solidFill>
                  <a:srgbClr val="E8E3DA"/>
                </a:solidFill>
                <a:latin typeface="Calibri"/>
              </a:defRPr>
            </a:pPr>
            <a:r>
              <a:t>4 element colors: Red (#b83232), Blue (#3b77bc), Gold (#c5963a), Green (#3a5c3a)</a:t>
            </a:r>
          </a:p>
          <a:p>
            <a:pPr>
              <a:spcAft>
                <a:spcPts val="800"/>
              </a:spcAft>
              <a:defRPr sz="1600">
                <a:solidFill>
                  <a:srgbClr val="E8E3DA"/>
                </a:solidFill>
                <a:latin typeface="Calibri"/>
              </a:defRPr>
            </a:pPr>
            <a:r>
              <a:t>Framer Motion for card stack animations, page transitions, countdown</a:t>
            </a:r>
          </a:p>
          <a:p>
            <a:pPr>
              <a:spcAft>
                <a:spcPts val="800"/>
              </a:spcAft>
              <a:defRPr sz="1600">
                <a:solidFill>
                  <a:srgbClr val="E8E3DA"/>
                </a:solidFill>
                <a:latin typeface="Calibri"/>
              </a:defRPr>
            </a:pPr>
            <a:r>
              <a:t>CSS custom properties throughout — centralized design tokens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828800" cy="381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1C1B19"/>
                </a:solidFill>
                <a:latin typeface="Calibri"/>
              </a:defRPr>
            </a:pPr>
            <a:r>
              <a:t>Admin Panel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C1B19"/>
                </a:solidFill>
                <a:latin typeface="Calibri"/>
              </a:defRPr>
            </a:pPr>
            <a:r>
              <a:t>Dashboard: Total tests, visitors, sales, element distribution chart</a:t>
            </a:r>
          </a:p>
          <a:p>
            <a:pPr>
              <a:spcAft>
                <a:spcPts val="800"/>
              </a:spcAft>
              <a:defRPr sz="1600">
                <a:solidFill>
                  <a:srgbClr val="1C1B19"/>
                </a:solidFill>
                <a:latin typeface="Calibri"/>
              </a:defRPr>
            </a:pPr>
            <a:r>
              <a:t>Questions: Full CRUD — create, edit, delete, toggle active/inactive</a:t>
            </a:r>
          </a:p>
          <a:p>
            <a:pPr>
              <a:spcAft>
                <a:spcPts val="800"/>
              </a:spcAft>
              <a:defRPr sz="1600">
                <a:solidFill>
                  <a:srgbClr val="1C1B19"/>
                </a:solidFill>
                <a:latin typeface="Calibri"/>
              </a:defRPr>
            </a:pPr>
            <a:r>
              <a:t>Results: Paginated table of all test results with filters</a:t>
            </a:r>
          </a:p>
          <a:p>
            <a:pPr>
              <a:spcAft>
                <a:spcPts val="800"/>
              </a:spcAft>
              <a:defRPr sz="1600">
                <a:solidFill>
                  <a:srgbClr val="1C1B19"/>
                </a:solidFill>
                <a:latin typeface="Calibri"/>
              </a:defRPr>
            </a:pPr>
            <a:r>
              <a:t>Templates: Edit report content per element (parfum name, descriptions, links)</a:t>
            </a:r>
          </a:p>
          <a:p>
            <a:pPr>
              <a:spcAft>
                <a:spcPts val="800"/>
              </a:spcAft>
              <a:defRPr sz="1600">
                <a:solidFill>
                  <a:srgbClr val="1C1B19"/>
                </a:solidFill>
                <a:latin typeface="Calibri"/>
              </a:defRPr>
            </a:pPr>
            <a:r>
              <a:t>Sales counter: Manually update sales count for homepage display</a:t>
            </a:r>
          </a:p>
          <a:p>
            <a:pPr>
              <a:spcAft>
                <a:spcPts val="800"/>
              </a:spcAft>
              <a:defRPr sz="1600">
                <a:solidFill>
                  <a:srgbClr val="1C1B19"/>
                </a:solidFill>
                <a:latin typeface="Calibri"/>
              </a:defRPr>
            </a:pPr>
            <a:r>
              <a:t>Protected by JWT + admin guard — only users with isAdmin=true can access</a:t>
            </a:r>
          </a:p>
          <a:p>
            <a:pPr>
              <a:spcAft>
                <a:spcPts val="800"/>
              </a:spcAft>
              <a:defRPr sz="1600">
                <a:solidFill>
                  <a:srgbClr val="1C1B19"/>
                </a:solidFill>
                <a:latin typeface="Calibri"/>
              </a:defRPr>
            </a:pPr>
            <a:r>
              <a:t>Responsive sidebar layout with drawer for mobile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828800" cy="381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Key Features &amp;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96E"/>
                </a:solidFill>
                <a:latin typeface="Calibri"/>
              </a:defRPr>
            </a:pPr>
            <a:r>
              <a:t>Dual Auth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20116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9890"/>
                </a:solidFill>
                <a:latin typeface="Calibri"/>
              </a:defRPr>
            </a:pPr>
            <a:r>
              <a:t>Email/password + Google OAuth with account merging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96E"/>
                </a:solidFill>
                <a:latin typeface="Calibri"/>
              </a:defRPr>
            </a:pPr>
            <a:r>
              <a:t>Auto-scored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4688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9890"/>
                </a:solidFill>
                <a:latin typeface="Calibri"/>
              </a:defRPr>
            </a:pPr>
            <a:r>
              <a:t>Balanced 6-6-6-6 question distribution + tie-breaker logic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96E"/>
                </a:solidFill>
                <a:latin typeface="Calibri"/>
              </a:defRPr>
            </a:pPr>
            <a:r>
              <a:t>Token Sharing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9260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9890"/>
                </a:solidFill>
                <a:latin typeface="Calibri"/>
              </a:defRPr>
            </a:pPr>
            <a:r>
              <a:t>30-day UUID tokens — share reports without login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96E"/>
                </a:solidFill>
                <a:latin typeface="Calibri"/>
              </a:defRPr>
            </a:pPr>
            <a:r>
              <a:t>Visitor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3832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9890"/>
                </a:solidFill>
                <a:latin typeface="Calibri"/>
              </a:defRPr>
            </a:pPr>
            <a:r>
              <a:t>SessionStorage de-duplication, 5-min cached stats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40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96E"/>
                </a:solidFill>
                <a:latin typeface="Calibri"/>
              </a:defRPr>
            </a:pPr>
            <a:r>
              <a:t>Email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8404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9890"/>
                </a:solidFill>
                <a:latin typeface="Calibri"/>
              </a:defRPr>
            </a:pPr>
            <a:r>
              <a:t>Brevo API sends HTML report emails post-test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97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96E"/>
                </a:solidFill>
                <a:latin typeface="Calibri"/>
              </a:defRPr>
            </a:pPr>
            <a:r>
              <a:t>Social Share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42976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9890"/>
                </a:solidFill>
                <a:latin typeface="Calibri"/>
              </a:defRPr>
            </a:pPr>
            <a:r>
              <a:t>html2canvas generates PNG share cards client-side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54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96E"/>
                </a:solidFill>
                <a:latin typeface="Calibri"/>
              </a:defRPr>
            </a:pPr>
            <a:r>
              <a:t>Admin CRUD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7548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9890"/>
                </a:solidFill>
                <a:latin typeface="Calibri"/>
              </a:defRPr>
            </a:pPr>
            <a:r>
              <a:t>Full question bank &amp; report template 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212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96E"/>
                </a:solidFill>
                <a:latin typeface="Calibri"/>
              </a:defRPr>
            </a:pPr>
            <a:r>
              <a:t>Modern 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52120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9890"/>
                </a:solidFill>
                <a:latin typeface="Calibri"/>
              </a:defRPr>
            </a:pPr>
            <a:r>
              <a:t>Framer Motion animations, Canvas backgrounds, radar charts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669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96E"/>
                </a:solidFill>
                <a:latin typeface="Calibri"/>
              </a:defRPr>
            </a:pPr>
            <a:r>
              <a:t>Security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56692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9890"/>
                </a:solidFill>
                <a:latin typeface="Calibri"/>
              </a:defRPr>
            </a:pPr>
            <a:r>
              <a:t>bcrypt(12), JWT guards, admin guards, input validation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828800" cy="381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1C1B19"/>
                </a:solidFill>
                <a:latin typeface="Calibri"/>
              </a:defRPr>
            </a:pPr>
            <a:r>
              <a:t>Implementation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C1B19"/>
                </a:solidFill>
                <a:latin typeface="Calibri"/>
              </a:defRPr>
            </a:pPr>
            <a:r>
              <a:t>Fase 0: Project Setup (Vite, NestJS, Prisma, Supabase) ✅</a:t>
            </a:r>
          </a:p>
          <a:p>
            <a:pPr>
              <a:spcAft>
                <a:spcPts val="800"/>
              </a:spcAft>
              <a:defRPr sz="1500">
                <a:solidFill>
                  <a:srgbClr val="1C1B19"/>
                </a:solidFill>
                <a:latin typeface="Calibri"/>
              </a:defRPr>
            </a:pPr>
            <a:r>
              <a:t>Fase 1: Design System (CSS tokens, UI components, Framer Motion) ✅</a:t>
            </a:r>
          </a:p>
          <a:p>
            <a:pPr>
              <a:spcAft>
                <a:spcPts val="800"/>
              </a:spcAft>
              <a:defRPr sz="1500">
                <a:solidFill>
                  <a:srgbClr val="1C1B19"/>
                </a:solidFill>
                <a:latin typeface="Calibri"/>
              </a:defRPr>
            </a:pPr>
            <a:r>
              <a:t>Fase 2: Auth System (Register, Login, JWT, Google OAuth) ✅</a:t>
            </a:r>
          </a:p>
          <a:p>
            <a:pPr>
              <a:spcAft>
                <a:spcPts val="800"/>
              </a:spcAft>
              <a:defRPr sz="1500">
                <a:solidFill>
                  <a:srgbClr val="1C1B19"/>
                </a:solidFill>
                <a:latin typeface="Calibri"/>
              </a:defRPr>
            </a:pPr>
            <a:r>
              <a:t>Fase 3: Homepage (Hero canvas, stats, CTA, element cards) ✅</a:t>
            </a:r>
          </a:p>
          <a:p>
            <a:pPr>
              <a:spcAft>
                <a:spcPts val="800"/>
              </a:spcAft>
              <a:defRPr sz="1500">
                <a:solidFill>
                  <a:srgbClr val="1C1B19"/>
                </a:solidFill>
                <a:latin typeface="Calibri"/>
              </a:defRPr>
            </a:pPr>
            <a:r>
              <a:t>Fase 4: Test Interface (Card stack, 25 questions, progress) ✅</a:t>
            </a:r>
          </a:p>
          <a:p>
            <a:pPr>
              <a:spcAft>
                <a:spcPts val="800"/>
              </a:spcAft>
              <a:defRPr sz="1500">
                <a:solidFill>
                  <a:srgbClr val="1C1B19"/>
                </a:solidFill>
                <a:latin typeface="Calibri"/>
              </a:defRPr>
            </a:pPr>
            <a:r>
              <a:t>Fase 5: Scoring &amp; Report (Logic, radar chart, share, email) ✅</a:t>
            </a:r>
          </a:p>
          <a:p>
            <a:pPr>
              <a:spcAft>
                <a:spcPts val="800"/>
              </a:spcAft>
              <a:defRPr sz="1500">
                <a:solidFill>
                  <a:srgbClr val="1C1B19"/>
                </a:solidFill>
                <a:latin typeface="Calibri"/>
              </a:defRPr>
            </a:pPr>
            <a:r>
              <a:t>Fase 6: Admin Panel (Dashboard, CRUD, results, templates) ✅</a:t>
            </a:r>
          </a:p>
          <a:p>
            <a:pPr>
              <a:spcAft>
                <a:spcPts val="800"/>
              </a:spcAft>
              <a:defRPr sz="1500">
                <a:solidFill>
                  <a:srgbClr val="1C1B19"/>
                </a:solidFill>
                <a:latin typeface="Calibri"/>
              </a:defRPr>
            </a:pPr>
            <a:r>
              <a:t>Fase 7: Polish (Animations, SEO metadata, error handling) ✅</a:t>
            </a:r>
          </a:p>
          <a:p>
            <a:pPr>
              <a:spcAft>
                <a:spcPts val="800"/>
              </a:spcAft>
              <a:defRPr sz="1500">
                <a:solidFill>
                  <a:srgbClr val="1C1B19"/>
                </a:solidFill>
                <a:latin typeface="Calibri"/>
              </a:defRPr>
            </a:pPr>
            <a:r>
              <a:t>Fase 8: Deployment (Vercel, Railway, CI/CD) ⏳ Pending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C9A96E"/>
                </a:solidFill>
                <a:latin typeface="Calibri"/>
              </a:defRPr>
            </a:pPr>
            <a:r>
              <a:t>Terima Kasih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3474720"/>
            <a:ext cx="2743200" cy="381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  <a:latin typeface="Calibri"/>
              </a:defRPr>
            </a:pPr>
            <a:r>
              <a:t>4Persona Vundiego — Quiet Luxury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9890"/>
                </a:solidFill>
                <a:latin typeface="Calibri"/>
              </a:defRPr>
            </a:pPr>
            <a:r>
              <a:t>React 19 · NestJS 11 · PostgreSQL · Supabase · Prisma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