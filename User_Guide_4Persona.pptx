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400" b="1">
                <a:solidFill>
                  <a:srgbClr val="C9A96E"/>
                </a:solidFill>
                <a:latin typeface="Georgia"/>
              </a:defRPr>
            </a:pPr>
            <a:r>
              <a:t>4Persona Vundiego</a:t>
            </a:r>
          </a:p>
          <a:p>
            <a:pPr>
              <a:spcAft>
                <a:spcPts val="2400"/>
              </a:spcAft>
              <a:defRPr sz="2200">
                <a:solidFill>
                  <a:srgbClr val="F8F6F2"/>
                </a:solidFill>
                <a:latin typeface="Arial"/>
              </a:defRPr>
            </a:pPr>
            <a:r>
              <a:t>User Guide &amp; Panduan Alur Aplikasi</a:t>
            </a:r>
          </a:p>
          <a:p>
            <a:pPr>
              <a:defRPr sz="1300" i="1">
                <a:solidFill>
                  <a:srgbClr val="8A8275"/>
                </a:solidFill>
                <a:latin typeface="Arial"/>
              </a:defRPr>
            </a:pPr>
            <a:r>
              <a:t>Quiet Luxury · Warm Neutral · Dark Minimal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B19"/>
                </a:solidFill>
                <a:latin typeface="Georgia"/>
              </a:defRPr>
            </a:pPr>
            <a:r>
              <a:t>1. Halaman Utama (Landing Page)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Desain antarmuka berkonsep premium 'Quiet Luxury' dengan animasi konstelasi bintang di latar belakang.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Menampilkan kartu 4 Elemen Kepribadian (Api, Air, Angin, Tanah) yang interaktif.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Mendukung efek hover/tap responsif untuk memunculkan ringkasan karakteristik elemen.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Dashboard statistik komunitas terintegrasi (Pengunjung, Tes Selesai, Terjual, Dominan).</a:t>
            </a:r>
          </a:p>
        </p:txBody>
      </p:sp>
      <p:pic>
        <p:nvPicPr>
          <p:cNvPr id="4" name="Picture 3" descr="1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400800" cy="4000500"/>
          </a:xfrm>
          <a:prstGeom prst="rect">
            <a:avLst/>
          </a:prstGeom>
          <a:ln w="19050">
            <a:solidFill>
              <a:srgbClr val="C9A96E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B19"/>
                </a:solidFill>
                <a:latin typeface="Georgia"/>
              </a:defRPr>
            </a:pPr>
            <a:r>
              <a:t>2. Pendaftaran Akun (Auth Page)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Akses terpusat di route /auth dengan transisi tab masuk/daftar yang mulus.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Mendukung pendaftaran email standar serta fitur cepat 'Lanjutkan dengan Google'.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Validasi input form secara real-time untuk nama, email, dan keamanan password.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Pendaftaran diperlukan agar hasil tes tersimpan permanen di profil pengguna.</a:t>
            </a:r>
          </a:p>
        </p:txBody>
      </p:sp>
      <p:pic>
        <p:nvPicPr>
          <p:cNvPr id="4" name="Picture 3" descr="2_register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400800" cy="4000500"/>
          </a:xfrm>
          <a:prstGeom prst="rect">
            <a:avLst/>
          </a:prstGeom>
          <a:ln w="19050">
            <a:solidFill>
              <a:srgbClr val="C9A96E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B19"/>
                </a:solidFill>
                <a:latin typeface="Georgia"/>
              </a:defRPr>
            </a:pPr>
            <a:r>
              <a:t>3. Akses Tes Pengguna Terotentikasi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Setelah masuk, sistem secara otomatis mengenali sesi pengguna.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Tombol CTA berubah menjadi 'Mulai Tes Gratis →' untuk mengarahkan pengguna ke sesi tes.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Visitor tracking dioptimalkan menggunakan localStorage 24 jam untuk menghitung satu perangkat sebagai satu Unique Visitor per hari.</a:t>
            </a:r>
          </a:p>
        </p:txBody>
      </p:sp>
      <p:pic>
        <p:nvPicPr>
          <p:cNvPr id="4" name="Picture 3" descr="3_homepage_logged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400800" cy="4000500"/>
          </a:xfrm>
          <a:prstGeom prst="rect">
            <a:avLst/>
          </a:prstGeom>
          <a:ln w="19050">
            <a:solidFill>
              <a:srgbClr val="C9A96E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B19"/>
                </a:solidFill>
                <a:latin typeface="Georgia"/>
              </a:defRPr>
            </a:pPr>
            <a:r>
              <a:t>4. Panduan Awal Tes (Intro)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Halaman pengenalan menyambut nama depan pengguna secara personal.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Memberikan ringkasan aturan tes: menjawab 24 soal kepribadian + 1 soal survei penutup.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Menampilkan rincian estimasi pengerjaan (± 5 menit) dan pemberitahuan pengiriman hasil ke email.</a:t>
            </a:r>
          </a:p>
        </p:txBody>
      </p:sp>
      <p:pic>
        <p:nvPicPr>
          <p:cNvPr id="4" name="Picture 3" descr="4_test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400800" cy="4000500"/>
          </a:xfrm>
          <a:prstGeom prst="rect">
            <a:avLst/>
          </a:prstGeom>
          <a:ln w="19050">
            <a:solidFill>
              <a:srgbClr val="C9A96E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B19"/>
                </a:solidFill>
                <a:latin typeface="Georgia"/>
              </a:defRPr>
            </a:pPr>
            <a:r>
              <a:t>5. Antarmuka Kuesioner Interaktif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Pertanyaan disajikan dalam bentuk tumpukan kartu (Card Stack) dengan animasi slide-out.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Pilihan jawaban memiliki warna border dan glow yang menyesuaikan dengan target elemen secara dinamis.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Dilengkapi dengan progress bar real-time di bagian atas kartu dan tombol 'Kembali' untuk merevisi jawaban.</a:t>
            </a:r>
          </a:p>
        </p:txBody>
      </p:sp>
      <p:pic>
        <p:nvPicPr>
          <p:cNvPr id="4" name="Picture 3" descr="5_test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400800" cy="4000500"/>
          </a:xfrm>
          <a:prstGeom prst="rect">
            <a:avLst/>
          </a:prstGeom>
          <a:ln w="19050">
            <a:solidFill>
              <a:srgbClr val="C9A96E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B19"/>
                </a:solidFill>
                <a:latin typeface="Georgia"/>
              </a:defRPr>
            </a:pPr>
            <a:r>
              <a:t>6. Kalkulasi Skor Kepribadian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Setelah menjawab soal ke-25, sistem menampilkan loading screen pemrosesan data.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Backend melakukan pengelompokan skor secara paralel di database dan mengirimkan email laporan formal melalui Brevo API.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Pengguna diarahkan secara instan ke visualisasi transisi hasil.</a:t>
            </a:r>
          </a:p>
        </p:txBody>
      </p:sp>
      <p:pic>
        <p:nvPicPr>
          <p:cNvPr id="4" name="Picture 3" descr="6_test_submi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400800" cy="4000500"/>
          </a:xfrm>
          <a:prstGeom prst="rect">
            <a:avLst/>
          </a:prstGeom>
          <a:ln w="19050">
            <a:solidFill>
              <a:srgbClr val="C9A96E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B19"/>
                </a:solidFill>
                <a:latin typeface="Georgia"/>
              </a:defRPr>
            </a:pPr>
            <a:r>
              <a:t>7. Reveal Hasil &amp; Elemen Utama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Visualisasi dramatis reveal elemen dengan orbs cahaya berpendar dan hitung mundur 3 detik.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Menampilkan nama elemen dominan (Api/Air/Angin/Tanah) beserta parfum representatif Vundiego.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Menyertakan ringkasan deskripsi elemen, tagline psikologi, 4 label kekuatan utama, serta indikasi elemen sekunder.</a:t>
            </a:r>
          </a:p>
        </p:txBody>
      </p:sp>
      <p:pic>
        <p:nvPicPr>
          <p:cNvPr id="4" name="Picture 3" descr="7_teaser_rev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400800" cy="4000500"/>
          </a:xfrm>
          <a:prstGeom prst="rect">
            <a:avLst/>
          </a:prstGeom>
          <a:ln w="19050">
            <a:solidFill>
              <a:srgbClr val="C9A96E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B19"/>
                </a:solidFill>
                <a:latin typeface="Georgia"/>
              </a:defRPr>
            </a:pPr>
            <a:r>
              <a:t>8. Laporan Karakteristik Utama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Halaman laporan lengkap dilindungi token unik di route /report/:token.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Menyajikan grafik radar chart interaktif (radar polygon) untuk membandingkan persentase 4 elemen kepribadian.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Menampilkan kartu penjelasan detail kelebihan/kekuatan elemen dominan dengan warna tema yang harmonis.</a:t>
            </a:r>
          </a:p>
        </p:txBody>
      </p:sp>
      <p:pic>
        <p:nvPicPr>
          <p:cNvPr id="4" name="Picture 3" descr="8_report_page_ut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400800" cy="4000500"/>
          </a:xfrm>
          <a:prstGeom prst="rect">
            <a:avLst/>
          </a:prstGeom>
          <a:ln w="19050">
            <a:solidFill>
              <a:srgbClr val="C9A96E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B19"/>
                </a:solidFill>
                <a:latin typeface="Georgia"/>
              </a:defRPr>
            </a:pPr>
            <a:r>
              <a:t>9. Analisis Sekunder &amp; Tautan Toko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Mendukung tab navigasi interaktif 'Primer' &amp; 'Sekunder' untuk melihat detail tantangan/kekurangan karakter.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Menampilkan rekomendasi parfum Vundiego dengan tombol mikro-interaksi Shopee, TikTok, dan Instagram resmi.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300">
                <a:solidFill>
                  <a:srgbClr val="6B6560"/>
                </a:solidFill>
                <a:latin typeface="Arial"/>
              </a:defRPr>
            </a:pPr>
            <a:r>
              <a:t>• Menyediakan kolom umpan balik (feedback rating) agar pengguna dapat menilai kesesuaian hasil tes.</a:t>
            </a:r>
          </a:p>
        </p:txBody>
      </p:sp>
      <p:pic>
        <p:nvPicPr>
          <p:cNvPr id="4" name="Picture 3" descr="9_report_page_seku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400800" cy="4000500"/>
          </a:xfrm>
          <a:prstGeom prst="rect">
            <a:avLst/>
          </a:prstGeom>
          <a:ln w="19050">
            <a:solidFill>
              <a:srgbClr val="C9A96E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400" b="1">
                <a:solidFill>
                  <a:srgbClr val="C9A96E"/>
                </a:solidFill>
                <a:latin typeface="Georgia"/>
              </a:defRPr>
            </a:pPr>
            <a:r>
              <a:t>4Persona Vundiego</a:t>
            </a:r>
          </a:p>
          <a:p>
            <a:pPr algn="ctr">
              <a:spcAft>
                <a:spcPts val="2000"/>
              </a:spcAft>
              <a:defRPr sz="2800">
                <a:solidFill>
                  <a:srgbClr val="F8F6F2"/>
                </a:solidFill>
                <a:latin typeface="Arial"/>
              </a:defRPr>
            </a:pPr>
            <a:r>
              <a:t>Terima Kasih!</a:t>
            </a:r>
          </a:p>
          <a:p>
            <a:pPr algn="ctr">
              <a:defRPr sz="1400">
                <a:solidFill>
                  <a:srgbClr val="8A8275"/>
                </a:solidFill>
                <a:latin typeface="Arial"/>
              </a:defRPr>
            </a:pPr>
            <a:r>
              <a:t>Kunjungi website resmi kami di vundiego.com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